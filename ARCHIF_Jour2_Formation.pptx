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6A1E"/>
                </a:solidFill>
              </a:defRPr>
            </a:pPr>
            <a:r>
              <a:t>JOUR 2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Dématérialisation du courrier</a:t>
            </a:r>
          </a:p>
          <a:p>
            <a:pPr>
              <a:spcBef>
                <a:spcPts val="600"/>
              </a:spcBef>
              <a:defRPr sz="2000">
                <a:solidFill>
                  <a:srgbClr val="FFFFFF"/>
                </a:solidFill>
              </a:defRPr>
            </a:pPr>
            <a:r>
              <a:t>De la réception au dispatching intelligent, avec ARCHIF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760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9D9EC"/>
                </a:solidFill>
              </a:defRPr>
            </a:pPr>
            <a:r>
              <a:t>Séminaire « Administration Zéro Papier » — ARCHIF, le logiciel à IA intégrée  •  Mercredi 15 juillet 2026  •  Kribi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Programme du Jour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50">
                <a:solidFill>
                  <a:srgbClr val="404040"/>
                </a:solidFill>
              </a:defRPr>
            </a:pPr>
            <a:r>
              <a:t>•  09h00 – 09h30 : Accueil, rappel Jour 1, objectifs pédagogiques du jour</a:t>
            </a:r>
          </a:p>
          <a:p>
            <a:pPr>
              <a:spcAft>
                <a:spcPts val="1100"/>
              </a:spcAft>
              <a:defRPr sz="1550">
                <a:solidFill>
                  <a:srgbClr val="404040"/>
                </a:solidFill>
              </a:defRPr>
            </a:pPr>
            <a:r>
              <a:t>•  09h30 – 10h30 : 2.1 Réception et enregistrement du courrier entrant</a:t>
            </a:r>
          </a:p>
          <a:p>
            <a:pPr>
              <a:spcAft>
                <a:spcPts val="1100"/>
              </a:spcAft>
              <a:defRPr sz="1550">
                <a:solidFill>
                  <a:srgbClr val="404040"/>
                </a:solidFill>
              </a:defRPr>
            </a:pPr>
            <a:r>
              <a:t>•  10h30 – 10h45 : Pause</a:t>
            </a:r>
          </a:p>
          <a:p>
            <a:pPr>
              <a:spcAft>
                <a:spcPts val="1100"/>
              </a:spcAft>
              <a:defRPr sz="1550">
                <a:solidFill>
                  <a:srgbClr val="404040"/>
                </a:solidFill>
              </a:defRPr>
            </a:pPr>
            <a:r>
              <a:t>•  10h45 – 12h00 : 2.2 à 2.4 — Numérisation, OCR, extraction IA, dispatching intelligent</a:t>
            </a:r>
          </a:p>
          <a:p>
            <a:pPr>
              <a:spcAft>
                <a:spcPts val="1100"/>
              </a:spcAft>
              <a:defRPr sz="1550">
                <a:solidFill>
                  <a:srgbClr val="404040"/>
                </a:solidFill>
              </a:defRPr>
            </a:pPr>
            <a:r>
              <a:t>•  12h00 – 13h00 : Déjeuner</a:t>
            </a:r>
          </a:p>
          <a:p>
            <a:pPr>
              <a:spcAft>
                <a:spcPts val="1100"/>
              </a:spcAft>
              <a:defRPr sz="1550">
                <a:solidFill>
                  <a:srgbClr val="404040"/>
                </a:solidFill>
              </a:defRPr>
            </a:pPr>
            <a:r>
              <a:t>•  13h00 – 14h30 : Démo live ARCHIF — le circuit complet du document, questions de la salle</a:t>
            </a:r>
          </a:p>
          <a:p>
            <a:pPr>
              <a:spcAft>
                <a:spcPts val="1100"/>
              </a:spcAft>
              <a:defRPr sz="1550">
                <a:solidFill>
                  <a:srgbClr val="404040"/>
                </a:solidFill>
              </a:defRPr>
            </a:pPr>
            <a:r>
              <a:t>•  14h30 – 15h30 : 2.5 à 2.7 — Suivi des délais, courrier sortant, fiche type</a:t>
            </a:r>
          </a:p>
          <a:p>
            <a:pPr>
              <a:spcAft>
                <a:spcPts val="1100"/>
              </a:spcAft>
              <a:defRPr sz="1550">
                <a:solidFill>
                  <a:srgbClr val="404040"/>
                </a:solidFill>
              </a:defRPr>
            </a:pPr>
            <a:r>
              <a:t>•  15h30 – 15h45 : Pause</a:t>
            </a:r>
          </a:p>
          <a:p>
            <a:pPr>
              <a:spcAft>
                <a:spcPts val="1100"/>
              </a:spcAft>
              <a:defRPr sz="1550">
                <a:solidFill>
                  <a:srgbClr val="404040"/>
                </a:solidFill>
              </a:defRPr>
            </a:pPr>
            <a:r>
              <a:t>•  15h45 – 16h45 : Travaux pratiques — traitement d'un lot de courriers fictifs</a:t>
            </a:r>
          </a:p>
          <a:p>
            <a:pPr>
              <a:spcAft>
                <a:spcPts val="1100"/>
              </a:spcAft>
              <a:defRPr sz="1550">
                <a:solidFill>
                  <a:srgbClr val="404040"/>
                </a:solidFill>
              </a:defRPr>
            </a:pPr>
            <a:r>
              <a:t>•  16h45 – 17h15 : 2.8 Points de vigilance, auto-évaluation Jour 2</a:t>
            </a:r>
          </a:p>
          <a:p>
            <a:pPr>
              <a:spcAft>
                <a:spcPts val="1100"/>
              </a:spcAft>
              <a:defRPr sz="1550">
                <a:solidFill>
                  <a:srgbClr val="404040"/>
                </a:solidFill>
              </a:defRPr>
            </a:pPr>
            <a:r>
              <a:t>•  17h15 – 17h30 : Synthèse et transition vers le Jour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Déroulé indicatif — ajustable selon le rythme du groupe (voir guide formateur).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Rappel — Jour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20440" cy="4206240"/>
          </a:xfrm>
          <a:prstGeom prst="roundRect">
            <a:avLst/>
          </a:prstGeom>
          <a:solidFill>
            <a:srgbClr val="EDF2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500">
                <a:solidFill>
                  <a:srgbClr val="2E75B6"/>
                </a:solidFill>
              </a:defRPr>
            </a:pPr>
            <a:r>
              <a:t>SND30 &amp; ODD</a:t>
            </a:r>
          </a:p>
          <a:p>
            <a:pPr>
              <a:spcBef>
                <a:spcPts val="500"/>
              </a:spcBef>
              <a:defRPr sz="1250">
                <a:solidFill>
                  <a:srgbClr val="404040"/>
                </a:solidFill>
              </a:defRPr>
            </a:pPr>
            <a:r>
              <a:t>La transformation digitale de l'administration, levier de la Stratégie Nationale de Développement 2020-2030. Contribution directe aux ODD 12, 13 et 15 : réduction du papier, de l'empreinte carbone, des coûts de stockage.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463040"/>
            <a:ext cx="3520440" cy="4206240"/>
          </a:xfrm>
          <a:prstGeom prst="roundRect">
            <a:avLst/>
          </a:prstGeom>
          <a:solidFill>
            <a:srgbClr val="EDF2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500">
                <a:solidFill>
                  <a:srgbClr val="2E75B6"/>
                </a:solidFill>
              </a:defRPr>
            </a:pPr>
            <a:r>
              <a:t>Cadre légal</a:t>
            </a:r>
          </a:p>
          <a:p>
            <a:pPr>
              <a:spcBef>
                <a:spcPts val="500"/>
              </a:spcBef>
              <a:defRPr sz="1250">
                <a:solidFill>
                  <a:srgbClr val="404040"/>
                </a:solidFill>
              </a:defRPr>
            </a:pPr>
            <a:r>
              <a:t>Loi n°2024/009 du 23 juillet 2024 : l'archivage électronique est reconnu, avec obligation d'authenticité, d'intégrité et de traçabilité. Articulée avec les normes ISO 15489, 30300/30301, 27001, 9001, 11799, 16175.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520440" cy="4206240"/>
          </a:xfrm>
          <a:prstGeom prst="roundRect">
            <a:avLst/>
          </a:prstGeom>
          <a:solidFill>
            <a:srgbClr val="EDF2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500">
                <a:solidFill>
                  <a:srgbClr val="2E75B6"/>
                </a:solidFill>
              </a:defRPr>
            </a:pPr>
            <a:r>
              <a:t>GED vs SAE</a:t>
            </a:r>
          </a:p>
          <a:p>
            <a:pPr>
              <a:spcBef>
                <a:spcPts val="500"/>
              </a:spcBef>
              <a:defRPr sz="1250">
                <a:solidFill>
                  <a:srgbClr val="404040"/>
                </a:solidFill>
              </a:defRPr>
            </a:pPr>
            <a:r>
              <a:t>GED : gestion des documents actifs, en cours d'exploitation. SAE : conservation définitive à valeur probante des documents inactifs. Le circuit complet : Courrier → Dispatching → GED → SAE → Sort final.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Aujourd'hui : le circuit complet du courrier, de la réception au dispatching intelligent, avec ARCHIF.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Objectifs pédagogiques du Jour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Dématérialiser le circuit du courrier de bout en bout dans ARCHIF : réception, enregistrement, numérisation, océrisation.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Comprendre le rôle de l'IA dans l'extraction automatique des métadonnées et le dispatching intelligent.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Assurer le suivi et la traçabilité complète du courrier : imputations, annotations, visas, délais de traitement.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Maîtriser le circuit symétrique du courrier sortant.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Identifier les points de vigilance essentiels à l'usage quotidien d'ARCHIF.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À l'issue de cette journée, chaque participant sait enregistrer, faire dispatcher et suivre un courrier dans ARCHIF.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Le module Courrier dans ARCHIF — 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Courrier reçu (interne) : enregistrement, consultation, approbation ou rejet.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Courrier envoyé (interne) : création, transfert vers un autre service avec conservation des pièces jointes.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Courrier entrant / sortant externe : mêmes fonctions pour les correspondants hors de l'organisation.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Listes de suivi dédiées : « à retourner », « retournés », « en cours ».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Contenants de courrier (classeurs, boîtes) pour l'archivage physique et le classement.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Recherche avancée, export Excel/PDF, impression d'une sélection.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Tout ce que nous allons pratiquer aujourd'hui se trouve dans ce module.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2.1  Réception et enregistrement du courrier entrant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Chaque courrier (physique ou électronique) est enregistré dès son arrivée.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Identification systématique : expéditeur, objet, date de réception, pièces jointes.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ARCHIF génère automatiquement un numéro d'enregistrement unique et horodaté — condition première de la traçabilité.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1965960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Courrier reçu</a:t>
            </a:r>
            <a:br/>
            <a:r>
              <a:t>(physique/électronique)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04872" y="4096511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87752" y="3749039"/>
            <a:ext cx="1965960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Identification</a:t>
            </a:r>
            <a:br/>
            <a:r>
              <a:t>expéditeur/objet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35424" y="4096511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18304" y="3749039"/>
            <a:ext cx="1965960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Enregistrement</a:t>
            </a:r>
            <a:br/>
            <a:r>
              <a:t>ARCHIF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65976" y="4096511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48856" y="3749039"/>
            <a:ext cx="1965960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N° horodaté</a:t>
            </a:r>
            <a:br/>
            <a:r>
              <a:t>généré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Démo live : enregistrement d'un courrier réel devant la salle.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Enregistrer un courrier reçu — pas à pas dans ARCHIF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1. Module Courrier → Courrier reçu → Nouveau courrier.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2. Sélectionner ou saisir l'expéditeur (utilisateur interne, contact externe, ou organisation externe).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3. Renseigner l'objet, la date, la typologie et la priorité du courrier.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4. Ajouter les pièces jointes numérisées (PDF, images, Office) — vignette générée automatiquement.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5. Enregistrer : ARCHIF attribue le code unique et horodate l'opération.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Le code peut aussi être saisi manuellement si votre organisation a sa propre nomenclature.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2.2  Numérisation et océrisation (OCR)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120640" cy="3017520"/>
          </a:xfrm>
          <a:prstGeom prst="roundRect">
            <a:avLst/>
          </a:prstGeom>
          <a:solidFill>
            <a:srgbClr val="EDF2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500">
                <a:solidFill>
                  <a:srgbClr val="2E75B6"/>
                </a:solidFill>
              </a:defRPr>
            </a:pPr>
            <a:r>
              <a:t>Numérisation</a:t>
            </a:r>
          </a:p>
          <a:p>
            <a:pPr>
              <a:spcBef>
                <a:spcPts val="500"/>
              </a:spcBef>
              <a:defRPr sz="1250">
                <a:solidFill>
                  <a:srgbClr val="404040"/>
                </a:solidFill>
              </a:defRPr>
            </a:pPr>
            <a:r>
              <a:t>Transforme le document papier en IMAGE numérique.</a:t>
            </a:r>
            <a:br/>
            <a:br/>
            <a:r>
              <a:t>Qualité recommandée : 300 dpi minimum pour une océrisation fiable.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554480"/>
            <a:ext cx="5120640" cy="3017520"/>
          </a:xfrm>
          <a:prstGeom prst="roundRect">
            <a:avLst/>
          </a:prstGeom>
          <a:solidFill>
            <a:srgbClr val="EDF2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500">
                <a:solidFill>
                  <a:srgbClr val="2E75B6"/>
                </a:solidFill>
              </a:defRPr>
            </a:pPr>
            <a:r>
              <a:t>Océrisation (OCR)</a:t>
            </a:r>
          </a:p>
          <a:p>
            <a:pPr>
              <a:spcBef>
                <a:spcPts val="500"/>
              </a:spcBef>
              <a:defRPr sz="1250">
                <a:solidFill>
                  <a:srgbClr val="404040"/>
                </a:solidFill>
              </a:defRPr>
            </a:pPr>
            <a:r>
              <a:t>Transforme l'image en TEXTE exploitable.</a:t>
            </a:r>
            <a:br/>
            <a:br/>
            <a:r>
              <a:t>C'est cette étape qui rend le document réellement recherchable et permet l'extraction automatique des métadonnées.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404040"/>
                </a:solidFill>
              </a:defRPr>
            </a:pPr>
            <a:r>
              <a:t>•  Contrôle qualité systématique de la lisibilité avant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Image → texte : la bascule qui rend tout le fonds documentaire interrogeable, y compris par l'assistant 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Pourquoi l'OCR est stratégique dans ARCHIF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Le texte océrisé alimente directement l'extraction automatique des métadonnées par l'IA (étape suivante).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Il rend le contenu des pièces jointes cherchable en texte intégral — y compris par l'assistant IA archiviste.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Il conditionne la qualité de la classification et de l'indexation automatiques (vues Jour 3).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Un document mal numérisé (flou, incliné, sombre) donne une métadonnée erronée — d'où le contrôle qualité obligatoire.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Une bonne numérisation en entrée conditionne toute la chaîne de valeur de l'IA en aval.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2.3  Extraction automatique des métadonnées par l'IA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À partir du texte océrisé, ARCHIF propose automatiquement : expéditeur, destinataire, objet, référence, date.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L'agent valide ou corrige ces propositions avant l'enregistrement définitif.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91840"/>
            <a:ext cx="10881360" cy="1005840"/>
          </a:xfrm>
          <a:prstGeom prst="roundRect">
            <a:avLst/>
          </a:prstGeom>
          <a:solidFill>
            <a:srgbClr val="FCE4E4"/>
          </a:solidFill>
          <a:ln w="19050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b="1" sz="1600">
                <a:solidFill>
                  <a:srgbClr val="CC0000"/>
                </a:solidFill>
              </a:defRPr>
            </a:pPr>
            <a:r>
              <a:t>⚠  La validation humaine reste OBLIGATOIRE à cette étape — aucune proposition de l'IA n'est appliquée sans confirmation.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Démo live : panneau de suggestion IA sur un document numérisé réel.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Démo live — Retrouver l'expéditeur d'un courrier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900" b="1" i="1">
                <a:solidFill>
                  <a:srgbClr val="FFFFFF"/>
                </a:solidFill>
              </a:defRPr>
            </a:pPr>
            <a:r>
              <a:t>💬  « je cherche le mail de Judite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404040"/>
                </a:solidFill>
              </a:defRPr>
            </a:pPr>
            <a:r>
              <a:t>•  L'assistant IA cherche d'abord dans les contacts et utilisateurs internes.</a:t>
            </a:r>
          </a:p>
          <a:p>
            <a:pPr>
              <a:spcAft>
                <a:spcPts val="1100"/>
              </a:spcAft>
              <a:defRPr sz="1500">
                <a:solidFill>
                  <a:srgbClr val="404040"/>
                </a:solidFill>
              </a:defRPr>
            </a:pPr>
            <a:r>
              <a:t>•  S'il ne trouve rien du premier coup, il relance avec des variantes (orthographe, prénom/nom).</a:t>
            </a:r>
          </a:p>
          <a:p>
            <a:pPr>
              <a:spcAft>
                <a:spcPts val="1100"/>
              </a:spcAft>
              <a:defRPr sz="1500">
                <a:solidFill>
                  <a:srgbClr val="404040"/>
                </a:solidFill>
              </a:defRPr>
            </a:pPr>
            <a:r>
              <a:t>•  Une fois le contact trouvé, il propose ses courriers liés visibles dans le périmètre de l'utilisateur.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051560"/>
          </a:xfrm>
          <a:prstGeom prst="roundRect">
            <a:avLst/>
          </a:prstGeom>
          <a:solidFill>
            <a:srgbClr val="E7F3EA"/>
          </a:solidFill>
          <a:ln w="15875"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400">
                <a:solidFill>
                  <a:srgbClr val="1E7A34"/>
                </a:solidFill>
              </a:defRPr>
            </a:pPr>
            <a:r>
              <a:t>Résultat attendu</a:t>
            </a:r>
          </a:p>
          <a:p>
            <a:pPr>
              <a:spcBef>
                <a:spcPts val="500"/>
              </a:spcBef>
              <a:defRPr sz="1350">
                <a:solidFill>
                  <a:srgbClr val="404040"/>
                </a:solidFill>
              </a:defRPr>
            </a:pPr>
            <a:r>
              <a:t>Coordonnées complètes affichées : nom, e-mail, téléphone, fonction — avec un panneau de détail cliquable, sans quitter la conversation.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Scénario testé et validé sur les données de démonstration.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2.4  Imputation et dispatching intelligent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Sur la base du contenu et de l'objet, ARCHIF propose une orientation vers la division ou la direction compétente.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Proposition fondée sur l'apprentissage des dispatchings précédents — accélère la transmission.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La décision finale reste entre les mains du chef de service courrier.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749039"/>
            <a:ext cx="1965960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Contenu du</a:t>
            </a:r>
            <a:br/>
            <a:r>
              <a:t>courrier analysé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04872" y="4096511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87752" y="3749039"/>
            <a:ext cx="1965960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Proposition IA</a:t>
            </a:r>
            <a:br/>
            <a:r>
              <a:t>de service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35424" y="4096511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18304" y="3749039"/>
            <a:ext cx="1965960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Validation</a:t>
            </a:r>
            <a:br/>
            <a:r>
              <a:t>chef de service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65976" y="4096511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48856" y="3749039"/>
            <a:ext cx="1965960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Transmission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Cas pratique : Direction financière — traitement d'un lot de factures fournisseurs.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📁  Cas pratique — Direction financière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Contexte : une direction financière reçoit chaque mois plusieurs centaines de factures fournisseurs.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Problème classique : le circuit papier génère des pertes de pièces jointes et des retards de paiement.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En atelier : les participants simulent l'enregistrement, l'océrisation et le dispatching automatique d'un lot de factures vers le service comptable compétent.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Extraction assistée du montant, de la référence et du fournisseur — à valider par le participant.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Mis en pratique lors du TP de 15h45 (voir programme).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86A1E"/>
                </a:solidFill>
              </a:defRPr>
            </a:pPr>
            <a:r>
              <a:t>🔍  ZOOM DÉMO LIVE — 13h00 à 14h30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Le document suit son cycle de vie dans ARCHIF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206240"/>
            <a:ext cx="1965960" cy="914400"/>
          </a:xfrm>
          <a:prstGeom prst="roundRect">
            <a:avLst/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Courrier</a:t>
            </a:r>
            <a:br/>
            <a:r>
              <a:t>reçu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04872" y="4553712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87752" y="4206240"/>
            <a:ext cx="1965960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Classement</a:t>
            </a:r>
            <a:br/>
            <a:r>
              <a:t>(plan de classement)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35424" y="4553712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18304" y="4206240"/>
            <a:ext cx="1965960" cy="914400"/>
          </a:xfrm>
          <a:prstGeom prst="roundRect">
            <a:avLst/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Localisation</a:t>
            </a:r>
            <a:br/>
            <a:r>
              <a:t>physique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665976" y="4553712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48856" y="4206240"/>
            <a:ext cx="1965960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Statut</a:t>
            </a:r>
            <a:br/>
            <a:r>
              <a:t>réglementaire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Avec le panneau de l'assistant IA ouvert en parallèle — questions de la salle bienvenues, y compris hors script.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Démo live — Localiser physiquement un dossier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900" b="1" i="1">
                <a:solidFill>
                  <a:srgbClr val="FFFFFF"/>
                </a:solidFill>
              </a:defRPr>
            </a:pPr>
            <a:r>
              <a:t>💬  « où se trouve le dossier AR-2010-007 ?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404040"/>
                </a:solidFill>
              </a:defRPr>
            </a:pPr>
            <a:r>
              <a:t>•  L'assistant recherche le dossier par son code dans le répertoire des archives.</a:t>
            </a:r>
          </a:p>
          <a:p>
            <a:pPr>
              <a:spcAft>
                <a:spcPts val="1100"/>
              </a:spcAft>
              <a:defRPr sz="1500">
                <a:solidFill>
                  <a:srgbClr val="404040"/>
                </a:solidFill>
              </a:defRPr>
            </a:pPr>
            <a:r>
              <a:t>•  Il remonte automatiquement la chaîne de localisation physique complète.</a:t>
            </a:r>
          </a:p>
          <a:p>
            <a:pPr>
              <a:spcAft>
                <a:spcPts val="1100"/>
              </a:spcAft>
              <a:defRPr sz="1500">
                <a:solidFill>
                  <a:srgbClr val="404040"/>
                </a:solidFill>
              </a:defRPr>
            </a:pPr>
            <a:r>
              <a:t>•  Aucune navigation manuelle dans les écrans Dépôts n'est nécessaire.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051560"/>
          </a:xfrm>
          <a:prstGeom prst="roundRect">
            <a:avLst/>
          </a:prstGeom>
          <a:solidFill>
            <a:srgbClr val="E7F3EA"/>
          </a:solidFill>
          <a:ln w="15875"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400">
                <a:solidFill>
                  <a:srgbClr val="1E7A34"/>
                </a:solidFill>
              </a:defRPr>
            </a:pPr>
            <a:r>
              <a:t>Résultat attendu</a:t>
            </a:r>
          </a:p>
          <a:p>
            <a:pPr>
              <a:spcBef>
                <a:spcPts val="500"/>
              </a:spcBef>
              <a:defRPr sz="1350">
                <a:solidFill>
                  <a:srgbClr val="404040"/>
                </a:solidFill>
              </a:defRPr>
            </a:pPr>
            <a:r>
              <a:t>Réponse directe : conteneur, étagère, salle et bâtiment — ex. « Conteneur CTN-2026-001, étagère salle DF, étage 01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Utile pour tout agent qui doit retrouver physiquement un dossier sans connaître le plan des dépôts.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Démo live — Interroger la conformité réglementaire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900" b="1" i="1">
                <a:solidFill>
                  <a:srgbClr val="FFFFFF"/>
                </a:solidFill>
              </a:defRPr>
            </a:pPr>
            <a:r>
              <a:t>💬  « ce dossier est-il communicable ? quand pourra-t-on l'éliminer ?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404040"/>
                </a:solidFill>
              </a:defRPr>
            </a:pPr>
            <a:r>
              <a:t>•  L'assistant calcule la date de communicabilité à partir de la date de clôture et du délai de l'activité de classement.</a:t>
            </a:r>
          </a:p>
          <a:p>
            <a:pPr>
              <a:spcAft>
                <a:spcPts val="1100"/>
              </a:spcAft>
              <a:defRPr sz="1500">
                <a:solidFill>
                  <a:srgbClr val="404040"/>
                </a:solidFill>
              </a:defRPr>
            </a:pPr>
            <a:r>
              <a:t>•  Il calcule ensuite la durée de rétention (DUA), la date d'échéance et le sort final prévu.</a:t>
            </a:r>
          </a:p>
          <a:p>
            <a:pPr>
              <a:spcAft>
                <a:spcPts val="1100"/>
              </a:spcAft>
              <a:defRPr sz="1500">
                <a:solidFill>
                  <a:srgbClr val="404040"/>
                </a:solidFill>
              </a:defRPr>
            </a:pPr>
            <a:r>
              <a:t>•  Il cite la base légale associée lorsqu'elle est renseignée dans le référentiel de conservation.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051560"/>
          </a:xfrm>
          <a:prstGeom prst="roundRect">
            <a:avLst/>
          </a:prstGeom>
          <a:solidFill>
            <a:srgbClr val="E7F3EA"/>
          </a:solidFill>
          <a:ln w="15875"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defRPr b="1" sz="1400">
                <a:solidFill>
                  <a:srgbClr val="1E7A34"/>
                </a:solidFill>
              </a:defRPr>
            </a:pPr>
            <a:r>
              <a:t>Résultat attendu</a:t>
            </a:r>
          </a:p>
          <a:p>
            <a:pPr>
              <a:spcBef>
                <a:spcPts val="500"/>
              </a:spcBef>
              <a:defRPr sz="1350">
                <a:solidFill>
                  <a:srgbClr val="404040"/>
                </a:solidFill>
              </a:defRPr>
            </a:pPr>
            <a:r>
              <a:t>Exemple réel obtenu : « Communicable depuis 2012 » + « Rétention 80 ans, jusqu'en 2090, sort final : Tri » avec référence à l'article de loi applicable.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Une réponse en quelques secondes, là où la vérification manuelle prend plusieurs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2.5  Suivi des annotations, visas et délais de traitement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Chaque étape du traitement — annotation, visa hiérarchique, transmission — est horodatée et attribuée à son auteur.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Un tableau de bord visualise en temps réel les délais de traitement et les courriers en instance, service par service.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Traçabilité complète : qui a fait quoi, quand.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Démo live : tableau de bord des délais dans ARCHIF.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Cycle de statuts d'un courrier dans ARCHIF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011680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Brouillon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50592" y="2359152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33472" y="2011680"/>
            <a:ext cx="2011680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En cours de</a:t>
            </a:r>
            <a:br/>
            <a:r>
              <a:t>traitement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26864" y="2359152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09744" y="2011680"/>
            <a:ext cx="2011680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Transmis /</a:t>
            </a:r>
            <a:br/>
            <a:r>
              <a:t>Reçu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03136" y="2359152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86016" y="2011680"/>
            <a:ext cx="2011680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Traité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79408" y="2359152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62288" y="2011680"/>
            <a:ext cx="2011680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Archivé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10789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Un courrier peut aussi être « rejeté » à l'étape de traitement (retour à l'expéditeur ou au service).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Le passage d'un statut à l'autre est tracé avec l'identité de l'agent et l'horodatage.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Un courrier archivé ne peut plus être modifié dans le circuit courant.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2.6  Courrier sortant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Circuit symétrique au courrier entrant.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Rédaction ou import du document → circuit de validation et de signature.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Enregistrement au départ, puis transmission ou classement automatique dans le dossier électronique concerné.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1965960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Rédaction /</a:t>
            </a:r>
            <a:br/>
            <a:r>
              <a:t>import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04872" y="4279392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87752" y="3931920"/>
            <a:ext cx="1965960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Validation &amp;</a:t>
            </a:r>
            <a:br/>
            <a:r>
              <a:t>signature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35424" y="4279392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18304" y="3931920"/>
            <a:ext cx="1965960" cy="9144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Enregistrement</a:t>
            </a:r>
            <a:br/>
            <a:r>
              <a:t>au départ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665976" y="4279392"/>
            <a:ext cx="146304" cy="219456"/>
          </a:xfrm>
          <a:prstGeom prst="rightArrow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48856" y="3931920"/>
            <a:ext cx="1965960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Transmission /</a:t>
            </a:r>
            <a:br/>
            <a:r>
              <a:t>classement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Transférer un courrier entre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Un courrier déjà traité peut être transféré (renvoyé en copie) vers un autre utilisateur ou service.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Le transfert conserve toutes les pièces jointes d'origine.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Un commentaire accompagne le transfert pour expliquer le contexte au destinataire.</a:t>
            </a:r>
          </a:p>
          <a:p>
            <a:pPr>
              <a:spcAft>
                <a:spcPts val="1100"/>
              </a:spcAft>
              <a:defRPr sz="1600">
                <a:solidFill>
                  <a:srgbClr val="404040"/>
                </a:solidFill>
              </a:defRPr>
            </a:pPr>
            <a:r>
              <a:t>•  Le contenant de courrier peut lui-même être transféré vers une autre organisation si besoin.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Cas d'usage fréquent : un courrier reçu par le secrétariat général concerne en réalité deux directions.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2.7  Modèle de fiche d'enregistrement du courrier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30352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Champ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N° d'enregistrement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Généré automatiquement par ARCHIF, horodaté.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Date de réception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Date et heure d'arrivée du courrier.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Expéditeur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Personne physique ou morale à l'origine du courrier.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Objet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Résumé de l'objet, proposé par l'IA après OCR.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Destinataire / Division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Service imputé, proposé par le dispatching intelligent.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Nature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Simple, urgent, confidentiel, avec accusé de réception.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Délai de traitement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Délai réglementaire ou interne applicable.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Statut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En instance, en cours de traitement, traité, classé.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🎤  À votre tour — questionnez ARCHIF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E4ECF7"/>
                </a:solidFill>
              </a:defRPr>
            </a:pPr>
            <a:r>
              <a:t>•  L'assistant IA d'ARCHIF est disponible en direct pour répondre à toute question sur les données du séminaire.</a:t>
            </a:r>
          </a:p>
          <a:p>
            <a:pPr>
              <a:spcAft>
                <a:spcPts val="1100"/>
              </a:spcAft>
              <a:defRPr sz="1700">
                <a:solidFill>
                  <a:srgbClr val="E4ECF7"/>
                </a:solidFill>
              </a:defRPr>
            </a:pPr>
            <a:r>
              <a:t>•  Exemples de questions possibles : « combien de courriers avons-nous reçus cette semaine ? », « liste les dossiers en attente de dispatching », « qui a créé ce document ? ».</a:t>
            </a:r>
          </a:p>
          <a:p>
            <a:pPr>
              <a:spcAft>
                <a:spcPts val="1100"/>
              </a:spcAft>
              <a:defRPr sz="1700">
                <a:solidFill>
                  <a:srgbClr val="E4ECF7"/>
                </a:solidFill>
              </a:defRPr>
            </a:pPr>
            <a:r>
              <a:t>•  L'assistant ne montre que les données que vous avez le droit de voir — aucune fuite entre organisations.</a:t>
            </a:r>
          </a:p>
          <a:p>
            <a:pPr>
              <a:spcAft>
                <a:spcPts val="1100"/>
              </a:spcAft>
              <a:defRPr sz="1700">
                <a:solidFill>
                  <a:srgbClr val="E4ECF7"/>
                </a:solidFill>
              </a:defRPr>
            </a:pPr>
            <a:r>
              <a:t>•  N'hésitez pas à poser une question inattendue : c'est l'occasion de tester les limites du système ensemble.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Séquence ouverte — assistante DG, DSI et partenaires invités à participer.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🖥  Travaux pratiques — Traitement d'un lot de courriers fictifs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404040"/>
                </a:solidFill>
              </a:defRPr>
            </a:pPr>
            <a:r>
              <a:t>•  Enregistrement d'un lot de courriers entrants réalistes (correspondance administrative, factures, demandes).</a:t>
            </a:r>
          </a:p>
          <a:p>
            <a:pPr>
              <a:spcAft>
                <a:spcPts val="1100"/>
              </a:spcAft>
              <a:defRPr sz="1700">
                <a:solidFill>
                  <a:srgbClr val="404040"/>
                </a:solidFill>
              </a:defRPr>
            </a:pPr>
            <a:r>
              <a:t>•  Numérisation, océrisation et vérification des métadonnées extraites par l'IA.</a:t>
            </a:r>
          </a:p>
          <a:p>
            <a:pPr>
              <a:spcAft>
                <a:spcPts val="1100"/>
              </a:spcAft>
              <a:defRPr sz="1700">
                <a:solidFill>
                  <a:srgbClr val="404040"/>
                </a:solidFill>
              </a:defRPr>
            </a:pPr>
            <a:r>
              <a:t>•  Dispatching assisté vers les divisions et directions du cas pratique.</a:t>
            </a:r>
          </a:p>
          <a:p>
            <a:pPr>
              <a:spcAft>
                <a:spcPts val="1100"/>
              </a:spcAft>
              <a:defRPr sz="1700">
                <a:solidFill>
                  <a:srgbClr val="404040"/>
                </a:solidFill>
              </a:defRPr>
            </a:pPr>
            <a:r>
              <a:t>•  Suivi des annotations et des délais via le tableau de bord ARCHIF.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Durée : 1 heure. Un formateur circule dans la salle pour accompagner chaque participant.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2.8  Points de vigilance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881360" cy="960120"/>
          </a:xfrm>
          <a:prstGeom prst="roundRect">
            <a:avLst/>
          </a:prstGeom>
          <a:solidFill>
            <a:srgbClr val="FCE4E4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00" b="1">
                <a:solidFill>
                  <a:srgbClr val="CC0000"/>
                </a:solidFill>
              </a:defRPr>
            </a:pPr>
            <a:r>
              <a:t>1.  Vérifier systématiquement la qualité de la numérisation avant validation de l'OCR.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697480"/>
            <a:ext cx="10881360" cy="960120"/>
          </a:xfrm>
          <a:prstGeom prst="roundRect">
            <a:avLst/>
          </a:prstGeom>
          <a:solidFill>
            <a:srgbClr val="FCE4E4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00" b="1">
                <a:solidFill>
                  <a:srgbClr val="CC0000"/>
                </a:solidFill>
              </a:defRPr>
            </a:pPr>
            <a:r>
              <a:t>2.  Ne jamais valider une métadonnée proposée par l'IA sans contrôle visuel du document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10881360" cy="960120"/>
          </a:xfrm>
          <a:prstGeom prst="roundRect">
            <a:avLst/>
          </a:prstGeom>
          <a:solidFill>
            <a:srgbClr val="FCE4E4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00" b="1">
                <a:solidFill>
                  <a:srgbClr val="CC0000"/>
                </a:solidFill>
              </a:defRPr>
            </a:pPr>
            <a:r>
              <a:t>3.  Signaler tout courrier à caractère confidentiel pour restriction immédiate des habilitations de consultation.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83480"/>
            <a:ext cx="10881360" cy="960120"/>
          </a:xfrm>
          <a:prstGeom prst="roundRect">
            <a:avLst/>
          </a:prstGeom>
          <a:solidFill>
            <a:srgbClr val="FCE4E4"/>
          </a:solidFill>
          <a:ln w="1587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00" b="1">
                <a:solidFill>
                  <a:srgbClr val="CC0000"/>
                </a:solidFill>
              </a:defRPr>
            </a:pPr>
            <a:r>
              <a:t>4.  Respecter les délais réglementaires de traitement affichés au tableau de bord.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86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Ce que l'assistant IA ne fait pas (aujourd'hui)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50">
                <a:solidFill>
                  <a:srgbClr val="404040"/>
                </a:solidFill>
              </a:defRPr>
            </a:pPr>
            <a:r>
              <a:t>•  Il ne modifie, ne crée ni ne supprime aucune donnée : il consulte uniquement, en lecture seule.</a:t>
            </a:r>
          </a:p>
          <a:p>
            <a:pPr>
              <a:spcAft>
                <a:spcPts val="1100"/>
              </a:spcAft>
              <a:defRPr sz="1650">
                <a:solidFill>
                  <a:srgbClr val="404040"/>
                </a:solidFill>
              </a:defRPr>
            </a:pPr>
            <a:r>
              <a:t>•  Il ne remplace pas la validation humaine sur l'OCR, la classification ou le dispatching — c'est une aide à la décision.</a:t>
            </a:r>
          </a:p>
          <a:p>
            <a:pPr>
              <a:spcAft>
                <a:spcPts val="1100"/>
              </a:spcAft>
              <a:defRPr sz="1650">
                <a:solidFill>
                  <a:srgbClr val="404040"/>
                </a:solidFill>
              </a:defRPr>
            </a:pPr>
            <a:r>
              <a:t>•  Il ne devine pas une information absente de la base : il l'indique clairement plutôt que d'inventer une réponse.</a:t>
            </a:r>
          </a:p>
          <a:p>
            <a:pPr>
              <a:spcAft>
                <a:spcPts val="1100"/>
              </a:spcAft>
              <a:defRPr sz="1650">
                <a:solidFill>
                  <a:srgbClr val="404040"/>
                </a:solidFill>
              </a:defRPr>
            </a:pPr>
            <a:r>
              <a:t>•  Ses réponses dépendent de la disponibilité du service d'intelligence artificielle : en cas de forte charge, un message d'attente s'affiche plutôt qu'une réponse erronée.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Une IA transparente sur ses limites inspire davantage confiance qu'une IA qui prétend tout savoir.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✔  Auto-évaluation — Jour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404040"/>
                </a:solidFill>
              </a:defRPr>
            </a:pPr>
            <a:r>
              <a:t>•  1. Quelle est la différence entre numérisation et océrisation ?</a:t>
            </a:r>
          </a:p>
          <a:p>
            <a:pPr>
              <a:spcAft>
                <a:spcPts val="1100"/>
              </a:spcAft>
              <a:defRPr sz="1800">
                <a:solidFill>
                  <a:srgbClr val="404040"/>
                </a:solidFill>
              </a:defRPr>
            </a:pPr>
            <a:r>
              <a:t>•  2. Pourquoi la validation humaine reste-t-elle obligatoire après une proposition de l'IA ?</a:t>
            </a:r>
          </a:p>
          <a:p>
            <a:pPr>
              <a:spcAft>
                <a:spcPts val="1100"/>
              </a:spcAft>
              <a:defRPr sz="1800">
                <a:solidFill>
                  <a:srgbClr val="404040"/>
                </a:solidFill>
              </a:defRPr>
            </a:pPr>
            <a:r>
              <a:t>•  3. Citer trois champs indispensables d'une fiche d'enregistrement de courrier.</a:t>
            </a:r>
          </a:p>
          <a:p>
            <a:pPr>
              <a:spcAft>
                <a:spcPts val="1100"/>
              </a:spcAft>
              <a:defRPr sz="1800">
                <a:solidFill>
                  <a:srgbClr val="404040"/>
                </a:solidFill>
              </a:defRPr>
            </a:pPr>
            <a:r>
              <a:t>•  4. Comment le tableau de bord d'ARCHIF permet-il de suivre les délais de traitement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Corrigé disponible en Annexe F du guide du participant.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Indicateurs de suivi — volet Courrier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389120"/>
                <a:gridCol w="256032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Mode de calcul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Cible indicative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Délai moyen de dispatching du courrier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Temps entre réception et affectation au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&lt; 24 heures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Taux de courriers dématérialisés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Courriers enregistrés dans ARCHIF / total courriers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&gt; 90 % à 12 mois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Taux de fiabilité de la classification 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Propositions validées sans correction / total propositions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&gt; 80 %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739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04040"/>
                </a:solidFill>
              </a:defRPr>
            </a:pPr>
            <a:r>
              <a:t>Ces indicateurs seront repris dans le plan d'action zéro papier individuel (Annexe B).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Sigles utiles pour aujourd'hui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778240"/>
              </a:tblGrid>
              <a:tr h="56692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Sigle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Signification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ARCHIF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Logiciel d'archivage électronique open source à IA intégrée, développé au Cameroun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Optical Character Recognition — reconnaissance optique de caractères (océrisation)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Gestion Électronique des Documents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DUA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Durée d'Utilité Administrative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404040"/>
                          </a:solidFill>
                        </a:defRPr>
                      </a:pPr>
                      <a:r>
                        <a:t>Intelligence Artificielle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Synthèse du Jour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E4ECF7"/>
                </a:solidFill>
              </a:defRPr>
            </a:pPr>
            <a:r>
              <a:t>•  Le circuit complet du courrier : réception → OCR → dispatching intelligent → suivi des délais → courrier sortant.</a:t>
            </a:r>
          </a:p>
          <a:p>
            <a:pPr>
              <a:spcAft>
                <a:spcPts val="1100"/>
              </a:spcAft>
              <a:defRPr sz="1700">
                <a:solidFill>
                  <a:srgbClr val="E4ECF7"/>
                </a:solidFill>
              </a:defRPr>
            </a:pPr>
            <a:r>
              <a:t>•  L'IA propose, l'humain valide — à chaque étape, sans exception.</a:t>
            </a:r>
          </a:p>
          <a:p>
            <a:pPr>
              <a:spcAft>
                <a:spcPts val="1100"/>
              </a:spcAft>
              <a:defRPr sz="1700">
                <a:solidFill>
                  <a:srgbClr val="E4ECF7"/>
                </a:solidFill>
              </a:defRPr>
            </a:pPr>
            <a:r>
              <a:t>•  Le document reçu ce matin a maintenant un statut, une localisation et une traçabilité complète dans ARCHIF.</a:t>
            </a:r>
          </a:p>
          <a:p>
            <a:pPr>
              <a:spcAft>
                <a:spcPts val="1100"/>
              </a:spcAft>
              <a:defRPr sz="1700">
                <a:solidFill>
                  <a:srgbClr val="E4ECF7"/>
                </a:solidFill>
              </a:defRPr>
            </a:pPr>
            <a:r>
              <a:t>•  L'assistant IA répond en langage naturel sur l'ensemble de ces données, dans le respect strict des droits d'accès.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6A1E"/>
                </a:solidFill>
              </a:defRPr>
            </a:pPr>
            <a:r>
              <a:t>Demain, Jour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Traitement GED : classer, indexer et retrouver avec l'IA</a:t>
            </a:r>
          </a:p>
          <a:p>
            <a:pPr>
              <a:spcBef>
                <a:spcPts val="1400"/>
              </a:spcBef>
              <a:defRPr sz="1700">
                <a:solidFill>
                  <a:srgbClr val="E4ECF7"/>
                </a:solidFill>
              </a:defRPr>
            </a:pPr>
            <a:r>
              <a:t>Plan de classement fonctionnel, classification assistée, recherche en langage naturel, thésaurus.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C9D9EC"/>
                </a:solidFill>
              </a:defRPr>
            </a:pPr>
            <a:r>
              <a:t>Merci de votre participation active aujourd'hui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404040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